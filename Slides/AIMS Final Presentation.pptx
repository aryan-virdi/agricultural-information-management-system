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d4e68e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d4e68e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fd4e68e9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fd4e68e9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d4e68e9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d4e68e9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fd4e68e99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fd4e68e99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fd4e68e99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fd4e68e99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fd4e68e99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fd4e68e99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d4e68e99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fd4e68e99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fd4e68e99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fd4e68e99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6.jpg"/><Relationship Id="rId5" Type="http://schemas.openxmlformats.org/officeDocument/2006/relationships/image" Target="../media/image4.jpg"/><Relationship Id="rId6" Type="http://schemas.openxmlformats.org/officeDocument/2006/relationships/image" Target="../media/image8.jpg"/><Relationship Id="rId7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134300" y="1501350"/>
            <a:ext cx="6875400" cy="2140800"/>
          </a:xfrm>
          <a:prstGeom prst="rect">
            <a:avLst/>
          </a:prstGeom>
          <a:solidFill>
            <a:srgbClr val="FF9FB2">
              <a:alpha val="468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38275"/>
            <a:ext cx="8520600" cy="8883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Aryan Virdi &amp; Lorenzo Resendez</a:t>
            </a:r>
            <a:endParaRPr sz="24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CSE-111: Database Systems</a:t>
            </a:r>
            <a:endParaRPr sz="1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1563675"/>
            <a:ext cx="8520600" cy="941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Agricultural-Information-Management-System</a:t>
            </a:r>
            <a:endParaRPr sz="2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F5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The System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Repository (database) of field operations and statistics</a:t>
            </a:r>
            <a:r>
              <a:rPr lang="en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Logging of crops and their terms, as well as soil samples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windows of information for the user to view.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decision-making of farmers and agronomists</a:t>
            </a:r>
            <a:br>
              <a:rPr lang="en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in both C++ command-line-interface and HTML/JavaScript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F5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3378850" y="0"/>
            <a:ext cx="57651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193600" y="314425"/>
            <a:ext cx="186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Use cases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69" name="Google Shape;69;p15" title="UseCase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8900" y="0"/>
            <a:ext cx="57651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63350" y="1152475"/>
            <a:ext cx="3245100" cy="38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imes New Roman"/>
              <a:buChar char="-"/>
            </a:pPr>
            <a:r>
              <a:rPr lang="en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terms for crops</a:t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imes New Roman"/>
              <a:buChar char="-"/>
            </a:pPr>
            <a:r>
              <a:rPr lang="en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soil samples</a:t>
            </a:r>
            <a:br>
              <a:rPr lang="en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imes New Roman"/>
              <a:buChar char="-"/>
            </a:pPr>
            <a:r>
              <a:rPr lang="en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fields’ statistics</a:t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imes New Roman"/>
              <a:buChar char="-"/>
            </a:pPr>
            <a:r>
              <a:rPr lang="en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analyses and reports</a:t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imes New Roman"/>
              <a:buChar char="-"/>
            </a:pPr>
            <a:r>
              <a:rPr lang="en" sz="1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decisions for the future</a:t>
            </a:r>
            <a:endParaRPr sz="1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F5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08450" y="2285400"/>
            <a:ext cx="205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E/R Diagram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76" name="Google Shape;76;p16" title="AIMS E_R Diagram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231" y="0"/>
            <a:ext cx="665876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F5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201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Relational Schema I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835425"/>
            <a:ext cx="8520600" cy="42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Farmer(</a:t>
            </a: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FarmerID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FieldID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FirstName, LastName)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Field(</a:t>
            </a: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FieldID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FarmerID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SoilTypeID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SoilType(</a:t>
            </a: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SoilTypeID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SoilTexture, AvgSand, AvgSilt, AvgClay)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SoilSample(</a:t>
            </a: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SoilSampleID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FieldID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Date, SandPct, SiltPct, ClayPct,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           pH, N, P, K, OM, CEC, [Heavy Metals], Comments)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Crop(</a:t>
            </a: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CropID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Name, SciName, daysToMature,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preferredSeason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preferredSoil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 preferre_pH, GermRate, NutrientUse)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Season(</a:t>
            </a: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SeasonID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SeasonName, StartDate, EndDate)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Maintenance(</a:t>
            </a: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MaintenanceID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, Category, Name, ApplicationDate, ActiveIngredient, Notes)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F5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201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Relational Schema II (Many-Many)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835425"/>
            <a:ext cx="8520600" cy="42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FieldCrop(</a:t>
            </a:r>
            <a:r>
              <a:rPr i="1" lang="en" sz="2400" u="sng">
                <a:latin typeface="Times New Roman"/>
                <a:ea typeface="Times New Roman"/>
                <a:cs typeface="Times New Roman"/>
                <a:sym typeface="Times New Roman"/>
              </a:rPr>
              <a:t>FieldID</a:t>
            </a:r>
            <a:r>
              <a:rPr lang="en" sz="2400" u="sng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2400" u="sng">
                <a:latin typeface="Times New Roman"/>
                <a:ea typeface="Times New Roman"/>
                <a:cs typeface="Times New Roman"/>
                <a:sym typeface="Times New Roman"/>
              </a:rPr>
              <a:t> CropID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, seasonID, beginDate, endDate, yield,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Units)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FieldMaintenance(</a:t>
            </a:r>
            <a:r>
              <a:rPr i="1" lang="en" sz="2400" u="sng">
                <a:latin typeface="Times New Roman"/>
                <a:ea typeface="Times New Roman"/>
                <a:cs typeface="Times New Roman"/>
                <a:sym typeface="Times New Roman"/>
              </a:rPr>
              <a:t>FieldID, MaintenanceID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, Concentration, Units,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					Amount, BeginDate, EndDate)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F5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201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Implementation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835425"/>
            <a:ext cx="8520600" cy="42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Database: SQLite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Generated template for CLI application with ChatGPT.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Fitted our queries into this interface.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Translated the CL interface (with ChatGPT…) into HTML-CSS-JavaScript web application.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ants sprouting in soil (Provided by Getty Images)" id="99" name="Google Shape;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2071" y="445025"/>
            <a:ext cx="3330227" cy="2219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oman's hands holding soil (Provided by Getty Images)" id="100" name="Google Shape;10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850" y="1372775"/>
            <a:ext cx="2847800" cy="28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/>
          <p:nvPr>
            <p:ph type="title"/>
          </p:nvPr>
        </p:nvSpPr>
        <p:spPr>
          <a:xfrm>
            <a:off x="1916725" y="445025"/>
            <a:ext cx="485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A.I.M.S</a:t>
            </a:r>
            <a:endParaRPr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846775"/>
            <a:ext cx="6458100" cy="4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" sz="2400">
                <a:solidFill>
                  <a:srgbClr val="F8CF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database for agricultural optimization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erson planting the seedlings into containers with the soil at home (Provided by Getty Images)" id="103" name="Google Shape;10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27246" y="1689900"/>
            <a:ext cx="4689500" cy="312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nds cupping a seedling in soil (Provided by Getty Images)" id="104" name="Google Shape;10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31926" y="3234150"/>
            <a:ext cx="1193299" cy="1762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